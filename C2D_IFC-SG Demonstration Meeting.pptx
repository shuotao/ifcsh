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notesMasterIdLst>
    <p:notesMasterId r:id="rId12"/>
  </p:notesMasterIdLst>
  <p:sldIdLst>
    <p:sldId id="256" r:id="rId3"/>
    <p:sldId id="271" r:id="rId4"/>
    <p:sldId id="272" r:id="rId5"/>
    <p:sldId id="273" r:id="rId6"/>
    <p:sldId id="274" r:id="rId7"/>
    <p:sldId id="275" r:id="rId8"/>
    <p:sldId id="276" r:id="rId9"/>
    <p:sldId id="268" r:id="rId10"/>
    <p:sldId id="269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05" autoAdjust="0"/>
    <p:restoredTop sz="95669" autoAdjust="0"/>
  </p:normalViewPr>
  <p:slideViewPr>
    <p:cSldViewPr snapToGrid="0">
      <p:cViewPr varScale="1">
        <p:scale>
          <a:sx n="137" d="100"/>
          <a:sy n="137" d="100"/>
        </p:scale>
        <p:origin x="155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23A50-1E8C-420E-8E55-D052B2709733}" type="datetimeFigureOut">
              <a:rPr lang="en-SG" smtClean="0"/>
              <a:t>24/4/2026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B618CA-FE18-4B0D-8DFA-8A6CA2C8328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91906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17791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65EF5-5299-A25D-5DAC-97EC5DD52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89DA1-801E-DE28-52DB-A30BAE978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70F9F-304B-3116-01B4-60979BC53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D1BE44-D0E8-7C59-0914-B11428D39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7353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EEB09-6173-F5B1-7864-2D5282F9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734F-DD93-495E-A91D-997CEC4A2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26D829-1FC3-757D-83A3-E99B5AE027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46328D-811B-22E7-E535-C611DF3079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7667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6135-81DA-143C-1462-FBCD7578B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AD3301-3109-4427-CB55-2830475BB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8A4310-8502-7475-6178-3B126426F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5A0CC6-A08A-7CDE-EE0C-ABBDFCD27C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564874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B39FC-DEEF-2A07-D6B6-5404168E3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3F21B0-0B1C-6AAA-3F61-102E6ADD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C0BC5-B54D-7FFE-35EB-3332BB62E2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194F0-B48A-31A7-AE43-DB781B15F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556279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BB01-AD91-10A4-FBBE-9DC24E57D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D4C574-C22D-194E-DDA7-13965E3C4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1C5523-0BBA-03D1-88B7-BBFF2E846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F33C7-8BE1-F5BB-1321-B9B7F55B5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936026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CE58-00BE-686E-7BE3-63949E02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DDAB1B-BC43-DD88-12C3-2C915FB09E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E6128-D7F1-EC2B-DCC9-D67174382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59C49-E62C-D780-5241-7C10D628F2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B618CA-FE18-4B0D-8DFA-8A6CA2C8328D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71181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920" y="368280"/>
            <a:ext cx="7930800" cy="24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7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4" name="Google Shape;11;p2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>
            <a:off x="3834360" y="126612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445428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576520" y="129276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2576520" y="218772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title"/>
          </p:nvPr>
        </p:nvSpPr>
        <p:spPr>
          <a:xfrm>
            <a:off x="2576520" y="308268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title"/>
          </p:nvPr>
        </p:nvSpPr>
        <p:spPr>
          <a:xfrm>
            <a:off x="2576520" y="3937680"/>
            <a:ext cx="677520" cy="403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9" name="Google Shape;55;p13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0523400">
            <a:off x="6530760" y="56952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3445560"/>
            <a:ext cx="8113320" cy="1274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1" name="Google Shape;59;p14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9518600">
            <a:off x="3620520" y="257076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845280" y="1199520"/>
            <a:ext cx="4619880" cy="2099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15" name="Google Shape;63;p15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3072000">
            <a:off x="-2614320" y="-1976760"/>
            <a:ext cx="4433400" cy="3866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782680" y="1249560"/>
            <a:ext cx="3360960" cy="38937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85000"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66;p16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3175400">
            <a:off x="172080" y="-2061000"/>
            <a:ext cx="4599360" cy="4010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69;p17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4050000">
            <a:off x="7011720" y="-2139120"/>
            <a:ext cx="6625800" cy="57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86000" y="212400"/>
            <a:ext cx="81712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2" name="Google Shape;79;p18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4361400">
            <a:off x="5070240" y="270864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12400"/>
            <a:ext cx="817128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24" name="Google Shape;94;p19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1382600">
            <a:off x="5733360" y="-246888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560" y="535680"/>
            <a:ext cx="341784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title"/>
          </p:nvPr>
        </p:nvSpPr>
        <p:spPr>
          <a:xfrm>
            <a:off x="5268600" y="3691080"/>
            <a:ext cx="3417840" cy="754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fr-FR" sz="43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4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27" name="Google Shape;100;p20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20224800">
            <a:off x="-2000520" y="166788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2478960" y="1791000"/>
            <a:ext cx="6207840" cy="291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title"/>
          </p:nvPr>
        </p:nvSpPr>
        <p:spPr>
          <a:xfrm>
            <a:off x="457200" y="440280"/>
            <a:ext cx="1294920" cy="762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500" b="0" i="1" u="none" strike="noStrike">
                <a:solidFill>
                  <a:schemeClr val="dk1"/>
                </a:solidFill>
                <a:effectLst/>
                <a:uFillTx/>
                <a:latin typeface="Viaoda Libre"/>
                <a:ea typeface="Viaoda Libre"/>
              </a:rPr>
              <a:t>xx%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0" name="Google Shape;15;p3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8601600">
            <a:off x="2378880" y="-4229280"/>
            <a:ext cx="8775720" cy="76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242880" y="456480"/>
            <a:ext cx="5443200" cy="103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7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Google Shape;104;p21"/>
          <p:cNvSpPr/>
          <p:nvPr/>
        </p:nvSpPr>
        <p:spPr>
          <a:xfrm>
            <a:off x="457200" y="3846960"/>
            <a:ext cx="5757120" cy="55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CREDITS: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  <a:hlinkClick r:id="rId3"/>
              </a:rPr>
              <a:t>Freepik</a:t>
            </a: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Albert Sans"/>
                <a:ea typeface="Albert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457200" y="1221480"/>
            <a:ext cx="8233560" cy="1301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12400"/>
            <a:ext cx="822924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pic>
        <p:nvPicPr>
          <p:cNvPr id="37" name="Google Shape;25;p5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2200200">
            <a:off x="-3751920" y="-381240"/>
            <a:ext cx="6625800" cy="577728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27;p6"/>
          <p:cNvPicPr/>
          <p:nvPr/>
        </p:nvPicPr>
        <p:blipFill>
          <a:blip r:embed="rId2">
            <a:alphaModFix amt="64000"/>
          </a:blip>
          <a:srcRect l="11021" r="13736" b="8153"/>
          <a:stretch/>
        </p:blipFill>
        <p:spPr>
          <a:xfrm rot="15790200">
            <a:off x="-1680840" y="-1717200"/>
            <a:ext cx="4467240" cy="389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4053600" y="1704960"/>
            <a:ext cx="4512600" cy="2836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15160" y="212400"/>
            <a:ext cx="811332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469080" y="370800"/>
            <a:ext cx="2841480" cy="7336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9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2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5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corenet.gov.sg/overview/about-corenet-x/corenet-x-code-of-practic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fo.corenet.gov.sg/ifc-sg/bim-data-(ifc-sg)/ifc-sg-onboarding-checklis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CDE4897-7D9F-8682-21D9-56434B54C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" y="0"/>
            <a:ext cx="9135234" cy="5143500"/>
          </a:xfrm>
          <a:prstGeom prst="rect">
            <a:avLst/>
          </a:prstGeom>
        </p:spPr>
      </p:pic>
      <p:pic>
        <p:nvPicPr>
          <p:cNvPr id="12" name="Picture 11" descr="Hi Panda">
            <a:extLst>
              <a:ext uri="{FF2B5EF4-FFF2-40B4-BE49-F238E27FC236}">
                <a16:creationId xmlns:a16="http://schemas.microsoft.com/office/drawing/2014/main" id="{9938D856-88CA-85EE-A92A-DCDB3FFFC9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199" y="2182433"/>
            <a:ext cx="1697417" cy="1697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C90376-FCED-CC44-FD26-0C8D9902CF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250" y="3140612"/>
            <a:ext cx="7240190" cy="7049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18E80A-1957-E1F7-EAFE-9335C1B1B6DA}"/>
              </a:ext>
            </a:extLst>
          </p:cNvPr>
          <p:cNvSpPr txBox="1"/>
          <p:nvPr/>
        </p:nvSpPr>
        <p:spPr>
          <a:xfrm>
            <a:off x="346603" y="3242681"/>
            <a:ext cx="7944304" cy="9025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7500"/>
          </a:bodyPr>
          <a:lstStyle>
            <a:lvl1pPr indent="0">
              <a:lnSpc>
                <a:spcPct val="100000"/>
              </a:lnSpc>
              <a:spcBef>
                <a:spcPct val="0"/>
              </a:spcBef>
              <a:buNone/>
              <a:tabLst>
                <a:tab pos="0" algn="l"/>
              </a:tabLst>
              <a:defRPr sz="4400" b="1">
                <a:latin typeface="+mj-lt"/>
                <a:ea typeface="+mj-ea"/>
                <a:cs typeface="+mj-cs"/>
              </a:defRPr>
            </a:lvl1pPr>
          </a:lstStyle>
          <a:p>
            <a:r>
              <a:rPr lang="en-SG" sz="2800" dirty="0"/>
              <a:t>IFC-SG DEMONSTRATION MEETING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848F9-013D-00EF-C169-804610D0D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849F38D-1C9B-1C72-C0FF-001D0721CDF8}"/>
              </a:ext>
            </a:extLst>
          </p:cNvPr>
          <p:cNvSpPr txBox="1"/>
          <p:nvPr/>
        </p:nvSpPr>
        <p:spPr>
          <a:xfrm>
            <a:off x="615002" y="1465114"/>
            <a:ext cx="7913996" cy="1769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Focus: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This demonstration focuses specifically on the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Prepare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phase of the IFC-SG model development.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Resource Navigation: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For a deep dive into the broader CORENET X ecosystem, refer to the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CORENET X Code of Practice (COP)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Quick Link: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SG" sz="1800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CORENET X Code of Practice</a:t>
            </a:r>
            <a:endParaRPr lang="en-S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DD58A-BB9F-EDF1-F80A-E633311FA604}"/>
              </a:ext>
            </a:extLst>
          </p:cNvPr>
          <p:cNvSpPr txBox="1"/>
          <p:nvPr/>
        </p:nvSpPr>
        <p:spPr>
          <a:xfrm>
            <a:off x="329252" y="204306"/>
            <a:ext cx="5230504" cy="442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22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Introduction to CORENET X &amp; IFC-SG</a:t>
            </a:r>
            <a:endParaRPr lang="en-SG" sz="22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122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03F93-10FE-3DB0-0C8E-6763C1CE1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8DDF01-9395-A945-AFC3-93DF42168119}"/>
              </a:ext>
            </a:extLst>
          </p:cNvPr>
          <p:cNvSpPr txBox="1"/>
          <p:nvPr/>
        </p:nvSpPr>
        <p:spPr>
          <a:xfrm>
            <a:off x="329252" y="204306"/>
            <a:ext cx="5230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Pre-Requisites (Onboarding Checklist)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759336-EC61-03A1-F1A7-066541F8FEDF}"/>
              </a:ext>
            </a:extLst>
          </p:cNvPr>
          <p:cNvSpPr txBox="1"/>
          <p:nvPr/>
        </p:nvSpPr>
        <p:spPr>
          <a:xfrm>
            <a:off x="528143" y="936317"/>
            <a:ext cx="7806559" cy="2966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Before starting, ensure your BIM environment (specifically Revit) is fully patched and equipped: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Software Updates:</a:t>
            </a: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Latest Revit patches installed.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Essential Tools:</a:t>
            </a: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* Latest </a:t>
            </a:r>
            <a:r>
              <a:rPr lang="en-SG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Revit Interoperability Tool</a:t>
            </a: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Revit-IFC App</a:t>
            </a: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installed.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Latest version of the </a:t>
            </a:r>
            <a:r>
              <a:rPr lang="en-SG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Revit-IFC Exporter</a:t>
            </a: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(critical for schema compliance).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Checklist Link:</a:t>
            </a:r>
            <a:r>
              <a:rPr lang="en-SG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SG" u="sng" kern="100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3"/>
              </a:rPr>
              <a:t>IFC-SG Onboarding Checklist</a:t>
            </a:r>
            <a:endParaRPr lang="en-S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3663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02BFE-BC7B-FF20-4078-FB6AC66E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9BBD44-D931-FCEC-51D1-F864CCEC7CD9}"/>
              </a:ext>
            </a:extLst>
          </p:cNvPr>
          <p:cNvSpPr txBox="1"/>
          <p:nvPr/>
        </p:nvSpPr>
        <p:spPr>
          <a:xfrm>
            <a:off x="329252" y="204306"/>
            <a:ext cx="5230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The IFC-SG Toolkit</a:t>
            </a:r>
            <a:endParaRPr lang="en-S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00512D-3309-D5C1-BE36-010A7857C64D}"/>
              </a:ext>
            </a:extLst>
          </p:cNvPr>
          <p:cNvSpPr txBox="1"/>
          <p:nvPr/>
        </p:nvSpPr>
        <p:spPr>
          <a:xfrm>
            <a:off x="329252" y="969728"/>
            <a:ext cx="8305800" cy="2760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Toolkit is the foundation of your data structure. Ensure the project team has downloaded and applied the following: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Setting Parameters: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Defining the required IFC-SG shared parameters within the BIM environment.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Validation: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Using the toolkit to check if parameter values meet the regulatory requirements.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Excel Mapping: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Utilizing the IFC-SG mapping files to ensure Revit Categories align correctly with IFC Classes.</a:t>
            </a:r>
          </a:p>
        </p:txBody>
      </p:sp>
    </p:spTree>
    <p:extLst>
      <p:ext uri="{BB962C8B-B14F-4D97-AF65-F5344CB8AC3E}">
        <p14:creationId xmlns:p14="http://schemas.microsoft.com/office/powerpoint/2010/main" val="827536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552AE-A8FA-2E7B-6DA0-5200B1B34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FFB630-C769-6294-0299-508FEBED2B99}"/>
              </a:ext>
            </a:extLst>
          </p:cNvPr>
          <p:cNvSpPr txBox="1"/>
          <p:nvPr/>
        </p:nvSpPr>
        <p:spPr>
          <a:xfrm>
            <a:off x="329252" y="204306"/>
            <a:ext cx="5230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5 Steps to Prepare an IFC-SG Model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4B1FD6-9621-618F-E692-6A0354CFED14}"/>
              </a:ext>
            </a:extLst>
          </p:cNvPr>
          <p:cNvSpPr txBox="1"/>
          <p:nvPr/>
        </p:nvSpPr>
        <p:spPr>
          <a:xfrm>
            <a:off x="458513" y="940534"/>
            <a:ext cx="8226973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 ensure a smooth submission, follow this linear workflow: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IFC-SG Parameters: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Use the toolkit to inject required fields into the model.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Populate IFC Classes: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Assign correct IFC Entities (e.g., </a:t>
            </a:r>
            <a:r>
              <a:rPr lang="en-SG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IfcWall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SG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IfcBeam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to elements.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Populate IFC-SG Values:</a:t>
            </a:r>
            <a:r>
              <a:rPr lang="en-SG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Fill in the project-specific data required by the agencies.</a:t>
            </a:r>
            <a:endParaRPr lang="en-S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Validate Parameters: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Check for missing or incorrectly formatted data.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Export to IFC: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Generate the .</a:t>
            </a:r>
            <a:r>
              <a:rPr lang="en-SG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ifc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file using the specific IFC-SG export settings.</a:t>
            </a:r>
          </a:p>
        </p:txBody>
      </p:sp>
    </p:spTree>
    <p:extLst>
      <p:ext uri="{BB962C8B-B14F-4D97-AF65-F5344CB8AC3E}">
        <p14:creationId xmlns:p14="http://schemas.microsoft.com/office/powerpoint/2010/main" val="133675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D0C9-4FD6-B898-E3F2-EFF31D64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DB161F6-3FB0-6204-3F88-3B6FAB3AA515}"/>
              </a:ext>
            </a:extLst>
          </p:cNvPr>
          <p:cNvSpPr txBox="1"/>
          <p:nvPr/>
        </p:nvSpPr>
        <p:spPr>
          <a:xfrm>
            <a:off x="302976" y="193796"/>
            <a:ext cx="5230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Submission Good Practices</a:t>
            </a:r>
            <a:endParaRPr lang="en-S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EC3C6-5BAB-AC1A-6411-808C4A7ADC4D}"/>
              </a:ext>
            </a:extLst>
          </p:cNvPr>
          <p:cNvSpPr txBox="1"/>
          <p:nvPr/>
        </p:nvSpPr>
        <p:spPr>
          <a:xfrm>
            <a:off x="390667" y="940534"/>
            <a:ext cx="8152832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1. Geospatial &amp; Level Alignment</a:t>
            </a:r>
            <a:endParaRPr lang="en-S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Shared Coordinates: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Models must be geo-referenced (SVY21) to ensure perfect overlay in the CORENET X portal.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Vertical Consistency: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M&amp;E levels must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match Architectural levels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exactly. Use Copy/Monitor to avoid elevation discrepancies.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2. Model Performance &amp; Optimization</a:t>
            </a:r>
            <a:endParaRPr lang="en-S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800 MB Rule: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Individual file sizes must not exceed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800 MB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 Splitting: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If a model exceeds the limit, split by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System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(e.g., MVAC, Plumb, Fire) or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Zone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 maintain processing speed.</a:t>
            </a:r>
          </a:p>
        </p:txBody>
      </p:sp>
    </p:spTree>
    <p:extLst>
      <p:ext uri="{BB962C8B-B14F-4D97-AF65-F5344CB8AC3E}">
        <p14:creationId xmlns:p14="http://schemas.microsoft.com/office/powerpoint/2010/main" val="2691297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11DD2-2EF6-2625-4B85-64672CB84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1A48E90-2249-1239-8DD1-BFE52577CBEB}"/>
              </a:ext>
            </a:extLst>
          </p:cNvPr>
          <p:cNvSpPr txBox="1"/>
          <p:nvPr/>
        </p:nvSpPr>
        <p:spPr>
          <a:xfrm>
            <a:off x="302976" y="193796"/>
            <a:ext cx="5230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Submission Good Practices</a:t>
            </a:r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49CBF2-5374-8F82-8075-06D875FCFBD2}"/>
              </a:ext>
            </a:extLst>
          </p:cNvPr>
          <p:cNvSpPr txBox="1"/>
          <p:nvPr/>
        </p:nvSpPr>
        <p:spPr>
          <a:xfrm>
            <a:off x="199598" y="745756"/>
            <a:ext cx="8732862" cy="3855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3. </a:t>
            </a:r>
            <a:r>
              <a:rPr lang="en-SG" sz="1800" b="1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Modeling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Integrity</a:t>
            </a:r>
            <a:endParaRPr lang="en-S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Correct Revit Categorization: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Use the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Suggested Revit Representation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Avoid "Generic Models"—assign equipment to the correct Family Category to ensure accurate IFC-SG entity mapping.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Spatial Coordination: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Models must be fully coordinated and clash-cleared against other disciplines prior to submission.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4. Quality Assurance (QA) Procedures</a:t>
            </a:r>
            <a:endParaRPr lang="en-SG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Schedule-Based Audits: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Use Revit Schedules to cross-check that </a:t>
            </a: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all elements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have been tagged with mandatory IFC-SG parameters.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18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Validation Check:</a:t>
            </a:r>
            <a:r>
              <a:rPr lang="en-SG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If a parameter is blank in the schedule, it will fail the automated compliance check.</a:t>
            </a:r>
          </a:p>
        </p:txBody>
      </p:sp>
    </p:spTree>
    <p:extLst>
      <p:ext uri="{BB962C8B-B14F-4D97-AF65-F5344CB8AC3E}">
        <p14:creationId xmlns:p14="http://schemas.microsoft.com/office/powerpoint/2010/main" val="116398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lush Panda">
            <a:extLst>
              <a:ext uri="{FF2B5EF4-FFF2-40B4-BE49-F238E27FC236}">
                <a16:creationId xmlns:a16="http://schemas.microsoft.com/office/drawing/2014/main" id="{7B1AB44F-2CD6-0899-6D66-B69D5B5547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52" y="195373"/>
            <a:ext cx="3630615" cy="3630615"/>
          </a:xfrm>
          <a:prstGeom prst="rect">
            <a:avLst/>
          </a:prstGeom>
        </p:spPr>
      </p:pic>
      <p:pic>
        <p:nvPicPr>
          <p:cNvPr id="12" name="Picture 2" descr="Youtube Good Q&amp;a Questions Creative Q ...">
            <a:extLst>
              <a:ext uri="{FF2B5EF4-FFF2-40B4-BE49-F238E27FC236}">
                <a16:creationId xmlns:a16="http://schemas.microsoft.com/office/drawing/2014/main" id="{05879DA0-2D89-27BB-5028-ADF1334A8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95442" y="1730399"/>
            <a:ext cx="5952194" cy="3179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A yellow oval with red letters and black text&#10;&#10;Description automatically generated">
            <a:extLst>
              <a:ext uri="{FF2B5EF4-FFF2-40B4-BE49-F238E27FC236}">
                <a16:creationId xmlns:a16="http://schemas.microsoft.com/office/drawing/2014/main" id="{18D6FDF5-E2E4-AD5B-71C9-3E16BD96140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" y="4491497"/>
            <a:ext cx="957943" cy="65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47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ike Panda">
            <a:extLst>
              <a:ext uri="{FF2B5EF4-FFF2-40B4-BE49-F238E27FC236}">
                <a16:creationId xmlns:a16="http://schemas.microsoft.com/office/drawing/2014/main" id="{9AF5CC5F-8B32-4315-CEC9-65AE4EEFA1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762" y="1121083"/>
            <a:ext cx="3278238" cy="3278238"/>
          </a:xfrm>
          <a:prstGeom prst="rect">
            <a:avLst/>
          </a:prstGeom>
        </p:spPr>
      </p:pic>
      <p:sp>
        <p:nvSpPr>
          <p:cNvPr id="6" name="TextBox 7">
            <a:extLst>
              <a:ext uri="{FF2B5EF4-FFF2-40B4-BE49-F238E27FC236}">
                <a16:creationId xmlns:a16="http://schemas.microsoft.com/office/drawing/2014/main" id="{B823A600-9DA2-0C48-A5AC-D8A60D47922C}"/>
              </a:ext>
            </a:extLst>
          </p:cNvPr>
          <p:cNvSpPr txBox="1"/>
          <p:nvPr/>
        </p:nvSpPr>
        <p:spPr>
          <a:xfrm>
            <a:off x="342490" y="1357058"/>
            <a:ext cx="6388510" cy="12146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000" b="1" dirty="0">
                <a:solidFill>
                  <a:srgbClr val="000099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You!</a:t>
            </a:r>
          </a:p>
        </p:txBody>
      </p:sp>
      <p:pic>
        <p:nvPicPr>
          <p:cNvPr id="7" name="Picture 6" descr="A yellow oval with red letters and black text&#10;&#10;Description automatically generated">
            <a:extLst>
              <a:ext uri="{FF2B5EF4-FFF2-40B4-BE49-F238E27FC236}">
                <a16:creationId xmlns:a16="http://schemas.microsoft.com/office/drawing/2014/main" id="{D089186E-56C0-041D-B17C-D3C68C484C9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50" y="4491497"/>
            <a:ext cx="957943" cy="65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73570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 Gradient by Slidesgo">
  <a:themeElements>
    <a:clrScheme name="Simple Light">
      <a:dk1>
        <a:srgbClr val="000000"/>
      </a:dk1>
      <a:lt1>
        <a:srgbClr val="FFFBF8"/>
      </a:lt1>
      <a:dk2>
        <a:srgbClr val="000000"/>
      </a:dk2>
      <a:lt2>
        <a:srgbClr val="0000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6159</TotalTime>
  <Words>496</Words>
  <Application>Microsoft Office PowerPoint</Application>
  <PresentationFormat>如螢幕大小 (16:9)</PresentationFormat>
  <Paragraphs>46</Paragraphs>
  <Slides>9</Slides>
  <Notes>7</Notes>
  <HiddenSlides>0</HiddenSlides>
  <MMClips>0</MMClips>
  <ScaleCrop>false</ScaleCrop>
  <HeadingPairs>
    <vt:vector size="4" baseType="variant">
      <vt:variant>
        <vt:lpstr>佈景主題</vt:lpstr>
      </vt:variant>
      <vt:variant>
        <vt:i4>2</vt:i4>
      </vt:variant>
      <vt:variant>
        <vt:lpstr>投影片標題</vt:lpstr>
      </vt:variant>
      <vt:variant>
        <vt:i4>9</vt:i4>
      </vt:variant>
    </vt:vector>
  </HeadingPairs>
  <TitlesOfParts>
    <vt:vector size="11" baseType="lpstr">
      <vt:lpstr>Minimal Gradient by Slidesgo</vt:lpstr>
      <vt:lpstr>Slidesgo Final Pages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Iyyappan Selavaraj</dc:creator>
  <cp:lastModifiedBy>Selvaraj Iyyappan</cp:lastModifiedBy>
  <cp:revision>28</cp:revision>
  <dcterms:modified xsi:type="dcterms:W3CDTF">2026-04-24T08:11:06Z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2026-01-09T03:56:09Z</dcterms:created>
  <dc:creator>Unknown Creator</dc:creator>
  <dc:description/>
  <dc:language>en-US</dc:language>
  <cp:lastModifiedBy>Unknown Creator</cp:lastModifiedBy>
  <dcterms:modified xsi:type="dcterms:W3CDTF">2026-01-09T03:56:09Z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